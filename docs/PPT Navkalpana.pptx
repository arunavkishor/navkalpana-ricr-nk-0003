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D721E-398B-BFBC-3C14-6DD006CEC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B6915F-216B-44A0-11F3-421CAD6BEB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410A4-6F86-1D40-8753-C5A1B36D5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BEB3-F35E-491F-99B7-3CCD9843FB9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4C79E-4545-281B-CF70-2CCA4520C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2F7E7-69FE-32FC-C8EE-F5EF6CD45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674-4493-4C15-ACF2-4F7F8B66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7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715E-8585-B345-A411-A1B6A460F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5DE24-2D7B-3716-919B-83C34FCE6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7AC23-F588-7096-5D8B-D63234424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BEB3-F35E-491F-99B7-3CCD9843FB9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0B0BC-30C8-B599-B8C1-12CBA55A9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6129B-328A-83DD-F305-C46C4D1CF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674-4493-4C15-ACF2-4F7F8B66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0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41F1-6DF6-DC56-4F82-B0DD00550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F5021-5431-B013-8C2E-4DDEAEB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94E39-1D42-E44F-E596-8FEFC5B65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BEB3-F35E-491F-99B7-3CCD9843FB9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9CED6-BA7B-B880-C373-06B6EC0D5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AEE2E-81DD-2A07-87B7-C364E84F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674-4493-4C15-ACF2-4F7F8B66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478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EF7E-E034-6782-41DB-FDE39188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3E6BA-0BEB-73C5-FD19-3189BAA60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7EB61-4CCC-D68E-063C-98F147E70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64C70-77DE-7BE9-FF7C-1E20458A3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BEB3-F35E-491F-99B7-3CCD9843FB9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51E7-959C-14D9-1505-5DDE948F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08B4B-A8C9-37B8-6FEC-E79CF5D5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674-4493-4C15-ACF2-4F7F8B66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44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6314-0963-9935-127F-37E0599E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D47D5-EAF3-553E-4C12-1D19FDBE2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E7968-E840-D3DE-0E40-8A3F2F4F3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3BBDC-E293-91D3-C91D-341FA25DC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8CFBA-10CB-F387-E616-B4D8C71DE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DC3476-86AE-2072-F756-22AC868E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BEB3-F35E-491F-99B7-3CCD9843FB9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F01343-3BD6-001F-836D-97564987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EBCE39-6CEC-5072-B018-9AB5FE4D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674-4493-4C15-ACF2-4F7F8B66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227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E173E-CCDE-9682-E413-F56845E0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5F2A01-FB51-F7F7-C6A7-372D5B6F5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BEB3-F35E-491F-99B7-3CCD9843FB9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EE8D9-5903-E544-1E25-04E9D964C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75C95-EDF5-9CD0-F6E9-CB893088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674-4493-4C15-ACF2-4F7F8B66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70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F531AD-D2E3-1B2D-6F22-EB1EF4445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BEB3-F35E-491F-99B7-3CCD9843FB9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18CA00-5E79-D6A9-99A1-F63A522E2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71AA0-F5C2-8E9D-6846-B2135D10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674-4493-4C15-ACF2-4F7F8B66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071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BB97-1BF8-1F84-FAA4-11A22CD4C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C1C0F-1F5D-1A5D-717C-BF8E818BA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1C2A3-94EE-B40F-02E4-127BEDF1F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68E38-1FFA-5C84-84F1-6A41621DD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BEB3-F35E-491F-99B7-3CCD9843FB9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DBBDA-B686-4E74-6506-C2F03ED64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6F8C2-80D3-954B-209E-13925B6C7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674-4493-4C15-ACF2-4F7F8B66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31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32E1-7CBF-EA64-66A7-AB13D966B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1C10A7-1CCC-BF0A-2E10-78FB52DDB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436C3-86F5-3C13-1C4A-89DF3AF46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AA1EC-6DC1-5542-F278-C9D6A22C0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BEB3-F35E-491F-99B7-3CCD9843FB9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1923B-4B0F-414C-F9F3-4F641F92D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6F68-DAC4-8F3E-DFE2-2A4096A6B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674-4493-4C15-ACF2-4F7F8B66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599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E215-447A-3A92-4BE0-DB517F1D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CB0172-E7AD-1F3A-DE7B-08C3534C8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B98C0-5CA1-A762-335F-CAA810363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BEB3-F35E-491F-99B7-3CCD9843FB9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AC0F7-07A3-1B60-B2E9-68D2FB26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7585B-B02C-4F9D-5BE2-6F5ED382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674-4493-4C15-ACF2-4F7F8B66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347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509546-6570-1C7B-C388-18922B825D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61BD3-0880-2DA2-C14B-BE6A374CA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F6C29-1681-BD36-3081-A3C074650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1BEB3-F35E-491F-99B7-3CCD9843FB9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9C3CC-3C1E-6E79-3A2B-E75E91CBD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301B8-BA38-5C42-5455-CEE35F4A6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63674-4493-4C15-ACF2-4F7F8B66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56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1EA1D6-A8F2-626C-866A-8E9DAE8BD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5A3C9-5351-BCA2-865F-51AB195CE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FB981-1E90-68BB-9FB4-FAC030087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1BEB3-F35E-491F-99B7-3CCD9843FB97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75956-E9B4-4016-79A5-FE71F6534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23168-0C0A-9283-E25E-2DB214E2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63674-4493-4C15-ACF2-4F7F8B66BC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65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B650BEC-8AB4-77F7-B38F-DCFE305EA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690" y="0"/>
            <a:ext cx="4270310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67012A0A-008D-30C6-FC5C-8C81EA3B43D4}"/>
              </a:ext>
            </a:extLst>
          </p:cNvPr>
          <p:cNvSpPr/>
          <p:nvPr/>
        </p:nvSpPr>
        <p:spPr>
          <a:xfrm>
            <a:off x="793790" y="197917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MindRise</a:t>
            </a:r>
            <a:endParaRPr lang="en-US" sz="39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23612B2-BD25-B80A-FE79-E97710F5498F}"/>
              </a:ext>
            </a:extLst>
          </p:cNvPr>
          <p:cNvSpPr/>
          <p:nvPr/>
        </p:nvSpPr>
        <p:spPr>
          <a:xfrm>
            <a:off x="793789" y="2946583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Classroom Intelligence &amp; Resource Management Platform</a:t>
            </a:r>
            <a:endParaRPr lang="en-US" sz="15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09BB7BC-EDF0-FEC9-CA77-4AB4CCE1E3A4}"/>
              </a:ext>
            </a:extLst>
          </p:cNvPr>
          <p:cNvSpPr/>
          <p:nvPr/>
        </p:nvSpPr>
        <p:spPr>
          <a:xfrm>
            <a:off x="793788" y="343510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NavKalpana — Project Code: RICR-NK-0003</a:t>
            </a:r>
            <a:endParaRPr lang="en-US" sz="15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FF3327-1955-3158-2F51-262E63F7908D}"/>
              </a:ext>
            </a:extLst>
          </p:cNvPr>
          <p:cNvSpPr txBox="1"/>
          <p:nvPr/>
        </p:nvSpPr>
        <p:spPr>
          <a:xfrm>
            <a:off x="696277" y="3915311"/>
            <a:ext cx="34437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: 	Arunav Kishor </a:t>
            </a:r>
            <a:b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	Prateek Raiger</a:t>
            </a:r>
          </a:p>
          <a:p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	Punit Kishor </a:t>
            </a:r>
            <a:r>
              <a:rPr lang="en-US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Paradkar</a:t>
            </a:r>
            <a:b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US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	Pradeep Paswan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6807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39113C5-1054-60B4-79D2-182E4479C495}"/>
              </a:ext>
            </a:extLst>
          </p:cNvPr>
          <p:cNvSpPr/>
          <p:nvPr/>
        </p:nvSpPr>
        <p:spPr>
          <a:xfrm>
            <a:off x="327256" y="297059"/>
            <a:ext cx="490061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E3B8145-58F4-CDC4-1E98-0D48529D960F}"/>
              </a:ext>
            </a:extLst>
          </p:cNvPr>
          <p:cNvSpPr/>
          <p:nvPr/>
        </p:nvSpPr>
        <p:spPr>
          <a:xfrm>
            <a:off x="327256" y="1190028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Schools and colleges today struggle with fragmented, manual workflows: attendance recorded on disparate spreadsheets, assessment</a:t>
            </a:r>
            <a:b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results delayed or lost, and no clear visual metrics to track individual student growth over time. These gaps create administrative </a:t>
            </a:r>
            <a:b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inefficiency and hinder timely academic interventions.</a:t>
            </a:r>
            <a:endParaRPr lang="en-US" sz="14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B731C8B-8A24-D9A3-6277-F0B4C444B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74" y="2384054"/>
            <a:ext cx="1212771" cy="749498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62AA510A-9AE1-DF27-2081-3F7E2989EA5B}"/>
              </a:ext>
            </a:extLst>
          </p:cNvPr>
          <p:cNvSpPr/>
          <p:nvPr/>
        </p:nvSpPr>
        <p:spPr>
          <a:xfrm>
            <a:off x="1842286" y="2430480"/>
            <a:ext cx="168972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Fragmented</a:t>
            </a:r>
            <a:b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</a:b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Attendance</a:t>
            </a:r>
            <a:endParaRPr lang="en-US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19B44EA-818B-2E8B-D7BA-C9B5765DED73}"/>
              </a:ext>
            </a:extLst>
          </p:cNvPr>
          <p:cNvSpPr/>
          <p:nvPr/>
        </p:nvSpPr>
        <p:spPr>
          <a:xfrm>
            <a:off x="398738" y="3184922"/>
            <a:ext cx="272141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processes lead to inconsistent records and delayed corrections.</a:t>
            </a:r>
            <a:endParaRPr lang="en-US" sz="1400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53090D13-DD80-EDE5-40A8-ABCC7AE10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058" y="2349148"/>
            <a:ext cx="1212771" cy="749498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49D995CC-2B3A-89EE-685A-F2239F1926BE}"/>
              </a:ext>
            </a:extLst>
          </p:cNvPr>
          <p:cNvSpPr/>
          <p:nvPr/>
        </p:nvSpPr>
        <p:spPr>
          <a:xfrm>
            <a:off x="5380041" y="2343142"/>
            <a:ext cx="2037798" cy="650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Slow Assessment </a:t>
            </a:r>
            <a:b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</a:b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Tracking</a:t>
            </a:r>
            <a:endParaRPr lang="en-US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24959760-746F-0004-75E1-1AC5C56A7568}"/>
              </a:ext>
            </a:extLst>
          </p:cNvPr>
          <p:cNvSpPr/>
          <p:nvPr/>
        </p:nvSpPr>
        <p:spPr>
          <a:xfrm>
            <a:off x="3841256" y="3133552"/>
            <a:ext cx="272153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Grading delays, file management issues, and difficulty tracking progress across formats.</a:t>
            </a:r>
            <a:endParaRPr lang="en-US" sz="140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AC913180-3A3C-33FC-A6CD-D6A4E86C1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2211" y="2341985"/>
            <a:ext cx="1212771" cy="749498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E8FD2510-E27C-74AF-4797-7C44CBED59F5}"/>
              </a:ext>
            </a:extLst>
          </p:cNvPr>
          <p:cNvSpPr/>
          <p:nvPr/>
        </p:nvSpPr>
        <p:spPr>
          <a:xfrm>
            <a:off x="9619354" y="2293616"/>
            <a:ext cx="205814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No Visual Growth </a:t>
            </a:r>
            <a:b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</a:b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Metrics</a:t>
            </a:r>
            <a:endParaRPr lang="en-US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DC981E94-CF7B-8282-13B3-E2B08F5A130A}"/>
              </a:ext>
            </a:extLst>
          </p:cNvPr>
          <p:cNvSpPr/>
          <p:nvPr/>
        </p:nvSpPr>
        <p:spPr>
          <a:xfrm>
            <a:off x="8004999" y="3084343"/>
            <a:ext cx="27215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Administrators and parents lack clear, actionable views of student development.</a:t>
            </a:r>
            <a:endParaRPr lang="en-US" sz="14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7653CEE8-C1A3-171F-4409-792E9E9630B3}"/>
              </a:ext>
            </a:extLst>
          </p:cNvPr>
          <p:cNvSpPr/>
          <p:nvPr/>
        </p:nvSpPr>
        <p:spPr>
          <a:xfrm>
            <a:off x="327256" y="490882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Goal: Empower educators with automation and give students a transparent path to improvement through centralized </a:t>
            </a:r>
            <a:b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and clear visual insights.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53394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B432057-8FAC-9C66-6993-006E30902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74328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07AAE0D4-ECE5-71FD-E4EE-C7315AC6D33E}"/>
              </a:ext>
            </a:extLst>
          </p:cNvPr>
          <p:cNvSpPr/>
          <p:nvPr/>
        </p:nvSpPr>
        <p:spPr>
          <a:xfrm>
            <a:off x="4572686" y="1200215"/>
            <a:ext cx="582751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Core Features — Admin</a:t>
            </a:r>
            <a:endParaRPr lang="en-US" sz="32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1556714D-D2F3-99D9-A106-8B7D7DAFEC88}"/>
              </a:ext>
            </a:extLst>
          </p:cNvPr>
          <p:cNvSpPr/>
          <p:nvPr/>
        </p:nvSpPr>
        <p:spPr>
          <a:xfrm>
            <a:off x="4572686" y="1994004"/>
            <a:ext cx="2386489" cy="3691652"/>
          </a:xfrm>
          <a:prstGeom prst="roundRect">
            <a:avLst>
              <a:gd name="adj" fmla="val 349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DABF152-E2AE-CBFB-BCEA-B05F9E6F5188}"/>
              </a:ext>
            </a:extLst>
          </p:cNvPr>
          <p:cNvSpPr/>
          <p:nvPr/>
        </p:nvSpPr>
        <p:spPr>
          <a:xfrm>
            <a:off x="4778664" y="2199983"/>
            <a:ext cx="1974532" cy="1240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Institution-wide Management</a:t>
            </a:r>
            <a:endParaRPr lang="en-US" sz="20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A321796-0534-1A04-3032-EE3CF8533E94}"/>
              </a:ext>
            </a:extLst>
          </p:cNvPr>
          <p:cNvSpPr/>
          <p:nvPr/>
        </p:nvSpPr>
        <p:spPr>
          <a:xfrm>
            <a:off x="4778664" y="3018498"/>
            <a:ext cx="197453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Unified pane-of-glass to monitor batches, enrollment, staff assignments, and real-time KPIs across the institution.</a:t>
            </a:r>
            <a:endParaRPr lang="en-US" sz="16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9CC5A61D-9CD2-B115-A9AE-EBA932044FED}"/>
              </a:ext>
            </a:extLst>
          </p:cNvPr>
          <p:cNvSpPr/>
          <p:nvPr/>
        </p:nvSpPr>
        <p:spPr>
          <a:xfrm>
            <a:off x="7157533" y="1994004"/>
            <a:ext cx="2386608" cy="3691652"/>
          </a:xfrm>
          <a:prstGeom prst="roundRect">
            <a:avLst>
              <a:gd name="adj" fmla="val 349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AB78E938-39EE-8DB8-E351-9228BB7344B8}"/>
              </a:ext>
            </a:extLst>
          </p:cNvPr>
          <p:cNvSpPr/>
          <p:nvPr/>
        </p:nvSpPr>
        <p:spPr>
          <a:xfrm>
            <a:off x="7363511" y="2199983"/>
            <a:ext cx="197465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Resource Allocation</a:t>
            </a:r>
            <a:endParaRPr lang="en-US" sz="20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A6B7C9B-BB76-49D0-6806-1D59862B9B2B}"/>
              </a:ext>
            </a:extLst>
          </p:cNvPr>
          <p:cNvSpPr/>
          <p:nvPr/>
        </p:nvSpPr>
        <p:spPr>
          <a:xfrm>
            <a:off x="7363511" y="2939361"/>
            <a:ext cx="197465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batch scheduling, automated instructor assignment suggestions, and conflict detection to optimize utilization.</a:t>
            </a:r>
            <a:endParaRPr lang="en-US" sz="16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17959215-74F0-8465-323D-A03C3CF62F1B}"/>
              </a:ext>
            </a:extLst>
          </p:cNvPr>
          <p:cNvSpPr/>
          <p:nvPr/>
        </p:nvSpPr>
        <p:spPr>
          <a:xfrm>
            <a:off x="9714506" y="1994004"/>
            <a:ext cx="2386608" cy="3691652"/>
          </a:xfrm>
          <a:prstGeom prst="roundRect">
            <a:avLst>
              <a:gd name="adj" fmla="val 349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078A7D4-B109-9ACF-F142-F7224475A163}"/>
              </a:ext>
            </a:extLst>
          </p:cNvPr>
          <p:cNvSpPr/>
          <p:nvPr/>
        </p:nvSpPr>
        <p:spPr>
          <a:xfrm>
            <a:off x="9948477" y="2199983"/>
            <a:ext cx="197465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System Integrity</a:t>
            </a:r>
            <a:endParaRPr lang="en-US" sz="20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F1FAF18-98FB-45DB-FF61-5EDAB60BC1D3}"/>
              </a:ext>
            </a:extLst>
          </p:cNvPr>
          <p:cNvSpPr/>
          <p:nvPr/>
        </p:nvSpPr>
        <p:spPr>
          <a:xfrm>
            <a:off x="9948477" y="2939361"/>
            <a:ext cx="1974652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Role-based access control (RBAC), detailed audit trails, and administrative dashboards for compliance and accountability.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33678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A117F1E-C66C-16B7-8A4C-C6FE2A0B4C68}"/>
              </a:ext>
            </a:extLst>
          </p:cNvPr>
          <p:cNvSpPr/>
          <p:nvPr/>
        </p:nvSpPr>
        <p:spPr>
          <a:xfrm>
            <a:off x="233720" y="532805"/>
            <a:ext cx="622554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Core Features — Teacher</a:t>
            </a:r>
            <a:endParaRPr lang="en-US" sz="28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159E8A57-11DE-79EC-05EA-743866DBA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20" y="1425773"/>
            <a:ext cx="1783199" cy="2228969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F9E65525-0C08-EC71-E779-419C16B040DE}"/>
              </a:ext>
            </a:extLst>
          </p:cNvPr>
          <p:cNvSpPr/>
          <p:nvPr/>
        </p:nvSpPr>
        <p:spPr>
          <a:xfrm>
            <a:off x="233720" y="39027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Attendance 2.0</a:t>
            </a:r>
            <a:endParaRPr lang="en-US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CB6DAF1-4B08-8F90-A723-8EBC25AB2C00}"/>
              </a:ext>
            </a:extLst>
          </p:cNvPr>
          <p:cNvSpPr/>
          <p:nvPr/>
        </p:nvSpPr>
        <p:spPr>
          <a:xfrm>
            <a:off x="218004" y="4168855"/>
            <a:ext cx="307467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marking with a configurable 10-minute edit lock plus same-day validation to maintain record integrity and reduce fraud or accidental edits.</a:t>
            </a:r>
            <a:endParaRPr lang="en-US" sz="120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E3C5D0C9-E2FE-2897-A666-C5F278C24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533" y="1425773"/>
            <a:ext cx="1783199" cy="2228969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70D87766-02DF-3224-B239-E5A2979E6F32}"/>
              </a:ext>
            </a:extLst>
          </p:cNvPr>
          <p:cNvSpPr/>
          <p:nvPr/>
        </p:nvSpPr>
        <p:spPr>
          <a:xfrm>
            <a:off x="3316784" y="3852744"/>
            <a:ext cx="307467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Assessment Lifecycle</a:t>
            </a:r>
            <a:endParaRPr lang="en-US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3557DE58-6825-E03D-B1F6-A88E2A04BBDD}"/>
              </a:ext>
            </a:extLst>
          </p:cNvPr>
          <p:cNvSpPr/>
          <p:nvPr/>
        </p:nvSpPr>
        <p:spPr>
          <a:xfrm>
            <a:off x="3316784" y="4181119"/>
            <a:ext cx="307467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Create, distribute, and grade assignments/exams easily. Supports multi-format uploads (PDF, images) and inline feedback for faster turnaround.</a:t>
            </a:r>
            <a:endParaRPr lang="en-US" sz="12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6E92EAF-1768-3492-C07B-3FD2168633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029" y="1411545"/>
            <a:ext cx="1783199" cy="2228969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49E4D533-B352-E512-1B77-16C8AC7742E8}"/>
              </a:ext>
            </a:extLst>
          </p:cNvPr>
          <p:cNvSpPr/>
          <p:nvPr/>
        </p:nvSpPr>
        <p:spPr>
          <a:xfrm>
            <a:off x="6618029" y="3840838"/>
            <a:ext cx="251281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Batch Analytics</a:t>
            </a:r>
            <a:endParaRPr lang="en-US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B1143FAA-60F3-A3C8-AD47-735339583EEC}"/>
              </a:ext>
            </a:extLst>
          </p:cNvPr>
          <p:cNvSpPr/>
          <p:nvPr/>
        </p:nvSpPr>
        <p:spPr>
          <a:xfrm>
            <a:off x="6618029" y="4162902"/>
            <a:ext cx="262687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distribution charts and module-level progress tracking help teachers identify gaps and plan targeted interventions.</a:t>
            </a:r>
            <a:endParaRPr lang="en-US" sz="1200" dirty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C316567B-0FD1-6415-CA4B-D44293E93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5526" y="1425773"/>
            <a:ext cx="1783318" cy="2229088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3945F7F6-DEE8-9688-7C13-E083B73863F5}"/>
              </a:ext>
            </a:extLst>
          </p:cNvPr>
          <p:cNvSpPr/>
          <p:nvPr/>
        </p:nvSpPr>
        <p:spPr>
          <a:xfrm>
            <a:off x="9887426" y="3864769"/>
            <a:ext cx="268640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Doubt Resolution</a:t>
            </a:r>
            <a:endParaRPr lang="en-US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A5D0F2B5-EAE7-9250-FBB3-EEC548687EDE}"/>
              </a:ext>
            </a:extLst>
          </p:cNvPr>
          <p:cNvSpPr/>
          <p:nvPr/>
        </p:nvSpPr>
        <p:spPr>
          <a:xfrm>
            <a:off x="9887426" y="4181119"/>
            <a:ext cx="307478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 messaging channel </a:t>
            </a:r>
            <a:b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priority handling, </a:t>
            </a:r>
            <a:b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allowing quick clarifications </a:t>
            </a:r>
            <a:b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structured follow-ups </a:t>
            </a:r>
            <a:b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tied to assignments and</a:t>
            </a:r>
            <a:b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</a:b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lessons.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54359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D638A7C-7A89-75B0-0D6A-9CD6B9E8F747}"/>
              </a:ext>
            </a:extLst>
          </p:cNvPr>
          <p:cNvSpPr/>
          <p:nvPr/>
        </p:nvSpPr>
        <p:spPr>
          <a:xfrm>
            <a:off x="146090" y="955358"/>
            <a:ext cx="627161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Core Features — Student</a:t>
            </a:r>
            <a:endParaRPr lang="en-US" sz="31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5ECE7BD-409B-B14C-226D-7487DA2BC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90" y="1848326"/>
            <a:ext cx="1212771" cy="1515904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827364AE-1571-569C-7BBB-513E911DA415}"/>
              </a:ext>
            </a:extLst>
          </p:cNvPr>
          <p:cNvSpPr/>
          <p:nvPr/>
        </p:nvSpPr>
        <p:spPr>
          <a:xfrm>
            <a:off x="1606868" y="1848326"/>
            <a:ext cx="272141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Personalized Dashboard</a:t>
            </a:r>
            <a:endParaRPr lang="en-US" sz="19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200D3AF-C3D0-F80B-F2C0-AE6D0A31255E}"/>
              </a:ext>
            </a:extLst>
          </p:cNvPr>
          <p:cNvSpPr/>
          <p:nvPr/>
        </p:nvSpPr>
        <p:spPr>
          <a:xfrm>
            <a:off x="246162" y="3484840"/>
            <a:ext cx="272141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 view for enrollment history, upcoming deadlines, submission status, and quick links to resources—designed to reduce confusion and missed work.</a:t>
            </a:r>
            <a:endParaRPr lang="en-US" sz="15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9396C729-13F7-4060-ED0A-0F9708B17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934" y="1829752"/>
            <a:ext cx="1212771" cy="1515904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7A9B9631-275D-C0CF-3BF3-0DF7A68142B2}"/>
              </a:ext>
            </a:extLst>
          </p:cNvPr>
          <p:cNvSpPr/>
          <p:nvPr/>
        </p:nvSpPr>
        <p:spPr>
          <a:xfrm>
            <a:off x="5427464" y="1839277"/>
            <a:ext cx="272153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Academic Progress (OGI)</a:t>
            </a:r>
            <a:endParaRPr lang="en-US" sz="19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2F60248-A9AF-1C09-F9DC-8DFF15DBC85E}"/>
              </a:ext>
            </a:extLst>
          </p:cNvPr>
          <p:cNvSpPr/>
          <p:nvPr/>
        </p:nvSpPr>
        <p:spPr>
          <a:xfrm>
            <a:off x="3895934" y="3445789"/>
            <a:ext cx="2721531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Growth Index combines attendance and grades into a weighted trend line so learners and advisors can track progress and set measurable goals.</a:t>
            </a:r>
            <a:endParaRPr lang="en-US" sz="15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4A56CFD-8ED8-56B6-2F70-1734B7680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195" y="1829752"/>
            <a:ext cx="1212771" cy="1515904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1F345890-73F8-E0EE-2ED7-EE2F8FAC3CE8}"/>
              </a:ext>
            </a:extLst>
          </p:cNvPr>
          <p:cNvSpPr/>
          <p:nvPr/>
        </p:nvSpPr>
        <p:spPr>
          <a:xfrm>
            <a:off x="9738925" y="1848326"/>
            <a:ext cx="272153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Attendance Transparency</a:t>
            </a:r>
            <a:endParaRPr lang="en-US" sz="195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CC07F51-F5D3-042D-FE6A-691B04CEB131}"/>
              </a:ext>
            </a:extLst>
          </p:cNvPr>
          <p:cNvSpPr/>
          <p:nvPr/>
        </p:nvSpPr>
        <p:spPr>
          <a:xfrm>
            <a:off x="8178195" y="3490318"/>
            <a:ext cx="2721531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calendar view with drill-down per day, showing status (Present / Absent / Late) plus notes for excused absences and appeal options.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579277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906E6CC-A0BB-D4BB-C296-DB1A4D7E37C2}"/>
              </a:ext>
            </a:extLst>
          </p:cNvPr>
          <p:cNvSpPr/>
          <p:nvPr/>
        </p:nvSpPr>
        <p:spPr>
          <a:xfrm>
            <a:off x="538163" y="233482"/>
            <a:ext cx="3145155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A79F49F-2425-8C95-9EAD-D47220316312}"/>
              </a:ext>
            </a:extLst>
          </p:cNvPr>
          <p:cNvSpPr/>
          <p:nvPr/>
        </p:nvSpPr>
        <p:spPr>
          <a:xfrm>
            <a:off x="538163" y="833199"/>
            <a:ext cx="1755934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D80681C-7ED0-FDBD-71E3-FE0234D02DBC}"/>
              </a:ext>
            </a:extLst>
          </p:cNvPr>
          <p:cNvSpPr/>
          <p:nvPr/>
        </p:nvSpPr>
        <p:spPr>
          <a:xfrm>
            <a:off x="538163" y="1152049"/>
            <a:ext cx="5367337" cy="872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19 with Vite for fast builds</a:t>
            </a:r>
            <a:endParaRPr lang="en-US" sz="11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Tailwind CSS 4 for utility-driven styling</a:t>
            </a:r>
            <a:endParaRPr lang="en-US" sz="11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Framer Motion for smooth UI animations</a:t>
            </a:r>
            <a:endParaRPr lang="en-US" sz="11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Recharts for interactive data visualizations</a:t>
            </a:r>
            <a:endParaRPr lang="en-US" sz="11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9F5FD8AA-DBD6-DB03-B02F-5F8F253F8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3" y="2135862"/>
            <a:ext cx="5367337" cy="4488656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A19B47D6-B477-3291-3F55-279AC02CC25D}"/>
              </a:ext>
            </a:extLst>
          </p:cNvPr>
          <p:cNvSpPr/>
          <p:nvPr/>
        </p:nvSpPr>
        <p:spPr>
          <a:xfrm>
            <a:off x="6255782" y="833199"/>
            <a:ext cx="2111097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Backend &amp; Storage</a:t>
            </a:r>
            <a:endParaRPr lang="en-US" sz="13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866466D-FD6E-667F-AD9C-8CC643F25E47}"/>
              </a:ext>
            </a:extLst>
          </p:cNvPr>
          <p:cNvSpPr/>
          <p:nvPr/>
        </p:nvSpPr>
        <p:spPr>
          <a:xfrm>
            <a:off x="6255782" y="1152049"/>
            <a:ext cx="5367337" cy="872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Node.js + Express 5 REST API</a:t>
            </a:r>
            <a:endParaRPr lang="en-US" sz="11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 authentication with Bcrypt-secured passwords</a:t>
            </a:r>
            <a:endParaRPr lang="en-US" sz="11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MongoDB Atlas for scalable cloud database</a:t>
            </a:r>
            <a:endParaRPr lang="en-US" sz="110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Cloudinary for media storage (profile photos, assignment files)</a:t>
            </a:r>
            <a:endParaRPr lang="en-US" sz="1100" dirty="0"/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AAE10CF7-C3D7-E648-A113-07DCB207D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782" y="2135862"/>
            <a:ext cx="5367337" cy="448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083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37A89E87-6416-9342-9080-7350876BF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561" y="1"/>
            <a:ext cx="4969439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5BFEA395-B9F2-F192-750F-4C8EB0AA67DA}"/>
              </a:ext>
            </a:extLst>
          </p:cNvPr>
          <p:cNvSpPr/>
          <p:nvPr/>
        </p:nvSpPr>
        <p:spPr>
          <a:xfrm>
            <a:off x="252651" y="271343"/>
            <a:ext cx="4787979" cy="419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Technical Architecture</a:t>
            </a:r>
            <a:endParaRPr lang="en-US" sz="26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78224C60-DFD6-D437-291E-013C52BAD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84" y="904280"/>
            <a:ext cx="6300191" cy="477834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CEA75BF3-50E4-D3BA-4144-40A9FA584022}"/>
              </a:ext>
            </a:extLst>
          </p:cNvPr>
          <p:cNvSpPr/>
          <p:nvPr/>
        </p:nvSpPr>
        <p:spPr>
          <a:xfrm>
            <a:off x="3128677" y="2821314"/>
            <a:ext cx="1268151" cy="144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Decoupled MERN Architecture</a:t>
            </a:r>
            <a:endParaRPr lang="en-US" sz="18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A82969D-1E08-7310-46D7-55E8EFE71272}"/>
              </a:ext>
            </a:extLst>
          </p:cNvPr>
          <p:cNvSpPr/>
          <p:nvPr/>
        </p:nvSpPr>
        <p:spPr>
          <a:xfrm>
            <a:off x="4209398" y="1276958"/>
            <a:ext cx="1886601" cy="57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React Frontend</a:t>
            </a:r>
            <a:endParaRPr lang="en-US" sz="18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F948088-666E-9BDF-16BD-3EB80B27554C}"/>
              </a:ext>
            </a:extLst>
          </p:cNvPr>
          <p:cNvSpPr/>
          <p:nvPr/>
        </p:nvSpPr>
        <p:spPr>
          <a:xfrm>
            <a:off x="4200495" y="1781008"/>
            <a:ext cx="1886601" cy="21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UI and client logic</a:t>
            </a:r>
            <a:endParaRPr lang="en-US" sz="14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33DC916-CE57-96A5-9A24-7778D2ECEAE8}"/>
              </a:ext>
            </a:extLst>
          </p:cNvPr>
          <p:cNvSpPr/>
          <p:nvPr/>
        </p:nvSpPr>
        <p:spPr>
          <a:xfrm>
            <a:off x="1413781" y="1169990"/>
            <a:ext cx="1886601" cy="86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MongoDB Atlas &amp; Cloudinary</a:t>
            </a:r>
            <a:endParaRPr lang="en-US" sz="18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A837F13-4F39-0B50-8FD1-D86D98DB767E}"/>
              </a:ext>
            </a:extLst>
          </p:cNvPr>
          <p:cNvSpPr/>
          <p:nvPr/>
        </p:nvSpPr>
        <p:spPr>
          <a:xfrm>
            <a:off x="1375045" y="1866078"/>
            <a:ext cx="1886601" cy="428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and asset storage</a:t>
            </a:r>
            <a:endParaRPr lang="en-US" sz="14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07ACD657-22A7-121A-D85A-1BF5A71BA15A}"/>
              </a:ext>
            </a:extLst>
          </p:cNvPr>
          <p:cNvSpPr/>
          <p:nvPr/>
        </p:nvSpPr>
        <p:spPr>
          <a:xfrm>
            <a:off x="1332644" y="4396955"/>
            <a:ext cx="1886601" cy="57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Middleware Validation</a:t>
            </a:r>
            <a:endParaRPr lang="en-US" sz="18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F521996D-6A23-263B-72DD-71C060B51A64}"/>
              </a:ext>
            </a:extLst>
          </p:cNvPr>
          <p:cNvSpPr/>
          <p:nvPr/>
        </p:nvSpPr>
        <p:spPr>
          <a:xfrm>
            <a:off x="1422684" y="5097391"/>
            <a:ext cx="1886601" cy="21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Request input checks</a:t>
            </a:r>
            <a:endParaRPr lang="en-US" sz="14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6965CF3-357B-3F58-B0C7-D5D9BD3F3D94}"/>
              </a:ext>
            </a:extLst>
          </p:cNvPr>
          <p:cNvSpPr/>
          <p:nvPr/>
        </p:nvSpPr>
        <p:spPr>
          <a:xfrm>
            <a:off x="4170752" y="4393409"/>
            <a:ext cx="1886601" cy="86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REST API (Node/Express)</a:t>
            </a:r>
            <a:endParaRPr lang="en-US" sz="18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68C0EFEE-E83C-964F-96AD-8818B502FCD7}"/>
              </a:ext>
            </a:extLst>
          </p:cNvPr>
          <p:cNvSpPr/>
          <p:nvPr/>
        </p:nvSpPr>
        <p:spPr>
          <a:xfrm>
            <a:off x="4209398" y="5178553"/>
            <a:ext cx="1886601" cy="21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 endpoints</a:t>
            </a:r>
            <a:endParaRPr lang="en-US" sz="145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1A7D5A3-28E1-7AC0-666F-D0FACBCE04CE}"/>
              </a:ext>
            </a:extLst>
          </p:cNvPr>
          <p:cNvSpPr/>
          <p:nvPr/>
        </p:nvSpPr>
        <p:spPr>
          <a:xfrm>
            <a:off x="4792490" y="2849053"/>
            <a:ext cx="1927841" cy="57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React Context</a:t>
            </a:r>
            <a:endParaRPr lang="en-US" sz="18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F6BD2BD-A098-2BAF-76E6-03DAA5545339}"/>
              </a:ext>
            </a:extLst>
          </p:cNvPr>
          <p:cNvSpPr/>
          <p:nvPr/>
        </p:nvSpPr>
        <p:spPr>
          <a:xfrm>
            <a:off x="4792491" y="3332151"/>
            <a:ext cx="1927841" cy="21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 auth state</a:t>
            </a:r>
            <a:endParaRPr lang="en-US" sz="14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12266C25-1B81-1D1A-35AF-70907C5FDEB5}"/>
              </a:ext>
            </a:extLst>
          </p:cNvPr>
          <p:cNvSpPr/>
          <p:nvPr/>
        </p:nvSpPr>
        <p:spPr>
          <a:xfrm>
            <a:off x="745327" y="2808634"/>
            <a:ext cx="1927842" cy="57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JWT &amp; Bcrypt</a:t>
            </a:r>
            <a:endParaRPr lang="en-US" sz="18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30D9A97-677D-9E68-409F-1906CAAF122B}"/>
              </a:ext>
            </a:extLst>
          </p:cNvPr>
          <p:cNvSpPr/>
          <p:nvPr/>
        </p:nvSpPr>
        <p:spPr>
          <a:xfrm>
            <a:off x="718798" y="3277601"/>
            <a:ext cx="1927842" cy="428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 tokens and hashing</a:t>
            </a:r>
            <a:endParaRPr lang="en-US" sz="145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6820ED7A-8F9E-6F55-2D50-DE358371BAEC}"/>
              </a:ext>
            </a:extLst>
          </p:cNvPr>
          <p:cNvSpPr/>
          <p:nvPr/>
        </p:nvSpPr>
        <p:spPr>
          <a:xfrm>
            <a:off x="252651" y="5607846"/>
            <a:ext cx="11767899" cy="992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MERN-based design keeps frontend and backend decoupled for independent scaling. React Context manages authentication state client-side; REST APIs provide clear service boundaries. Security is enforced with Bcrypt and JWT; middleware handles validation and centralized logging for observability and faster debugging.</a:t>
            </a:r>
            <a:endParaRPr lang="en-US" sz="1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240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20DF4C7B-CA8E-320C-EA67-748449572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055" y="0"/>
            <a:ext cx="4603552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38AC8CA4-6A04-CEEE-CF93-BDBD9E739A11}"/>
              </a:ext>
            </a:extLst>
          </p:cNvPr>
          <p:cNvSpPr/>
          <p:nvPr/>
        </p:nvSpPr>
        <p:spPr>
          <a:xfrm>
            <a:off x="4670465" y="185796"/>
            <a:ext cx="418742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Future Roadmap</a:t>
            </a:r>
            <a:endParaRPr lang="en-US" sz="28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7EF7B20A-2B44-DC30-BA78-2B550BA81268}"/>
              </a:ext>
            </a:extLst>
          </p:cNvPr>
          <p:cNvSpPr/>
          <p:nvPr/>
        </p:nvSpPr>
        <p:spPr>
          <a:xfrm>
            <a:off x="4893707" y="898922"/>
            <a:ext cx="22860" cy="5720596"/>
          </a:xfrm>
          <a:prstGeom prst="roundRect">
            <a:avLst>
              <a:gd name="adj" fmla="val 364651"/>
            </a:avLst>
          </a:prstGeom>
          <a:solidFill>
            <a:srgbClr val="BCDBD4"/>
          </a:solidFill>
          <a:ln/>
        </p:spPr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EE666A3-7143-3D10-EFC1-464262058D7D}"/>
              </a:ext>
            </a:extLst>
          </p:cNvPr>
          <p:cNvSpPr/>
          <p:nvPr/>
        </p:nvSpPr>
        <p:spPr>
          <a:xfrm>
            <a:off x="5094089" y="1110734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BCDBD4"/>
          </a:solidFill>
          <a:ln/>
        </p:spPr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3A1F0D0E-A66D-9B30-738B-4FBE180045E2}"/>
              </a:ext>
            </a:extLst>
          </p:cNvPr>
          <p:cNvSpPr/>
          <p:nvPr/>
        </p:nvSpPr>
        <p:spPr>
          <a:xfrm>
            <a:off x="4670465" y="898922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66D766F-2905-C8F8-C8C6-E978ED66E771}"/>
              </a:ext>
            </a:extLst>
          </p:cNvPr>
          <p:cNvSpPr/>
          <p:nvPr/>
        </p:nvSpPr>
        <p:spPr>
          <a:xfrm>
            <a:off x="4744879" y="993279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3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4D4BDEB4-1281-1111-F568-6417019B5B0F}"/>
              </a:ext>
            </a:extLst>
          </p:cNvPr>
          <p:cNvSpPr/>
          <p:nvPr/>
        </p:nvSpPr>
        <p:spPr>
          <a:xfrm>
            <a:off x="5886093" y="9671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AI Integration</a:t>
            </a:r>
            <a:endParaRPr lang="en-US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5CF7D59-2DAA-6280-E292-7E3B40C214C0}"/>
              </a:ext>
            </a:extLst>
          </p:cNvPr>
          <p:cNvSpPr/>
          <p:nvPr/>
        </p:nvSpPr>
        <p:spPr>
          <a:xfrm>
            <a:off x="5886093" y="1396365"/>
            <a:ext cx="634079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Predictive models for at-risk students and personalized learning paths; early-warning dashboards for advisors.</a:t>
            </a:r>
            <a:endParaRPr lang="en-US" sz="14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6537A1C9-6222-A254-85FB-75612A496EC4}"/>
              </a:ext>
            </a:extLst>
          </p:cNvPr>
          <p:cNvSpPr/>
          <p:nvPr/>
        </p:nvSpPr>
        <p:spPr>
          <a:xfrm>
            <a:off x="5094089" y="2640092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BCDBD4"/>
          </a:solidFill>
          <a:ln/>
        </p:spPr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DAE6C3A0-F0CB-0C6A-A14E-F920132B78C4}"/>
              </a:ext>
            </a:extLst>
          </p:cNvPr>
          <p:cNvSpPr/>
          <p:nvPr/>
        </p:nvSpPr>
        <p:spPr>
          <a:xfrm>
            <a:off x="4670465" y="2428280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DDE68A8-F153-9FB7-7791-0B11047939AC}"/>
              </a:ext>
            </a:extLst>
          </p:cNvPr>
          <p:cNvSpPr/>
          <p:nvPr/>
        </p:nvSpPr>
        <p:spPr>
          <a:xfrm>
            <a:off x="4744879" y="254168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FF01306-C7C2-B3AF-B01D-C56C6B68D1A3}"/>
              </a:ext>
            </a:extLst>
          </p:cNvPr>
          <p:cNvSpPr/>
          <p:nvPr/>
        </p:nvSpPr>
        <p:spPr>
          <a:xfrm>
            <a:off x="5886093" y="2496503"/>
            <a:ext cx="25796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Real-time Engine</a:t>
            </a:r>
            <a:endParaRPr lang="en-US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45AFB46E-63BE-5D41-52D0-73E144F649EE}"/>
              </a:ext>
            </a:extLst>
          </p:cNvPr>
          <p:cNvSpPr/>
          <p:nvPr/>
        </p:nvSpPr>
        <p:spPr>
          <a:xfrm>
            <a:off x="5886093" y="2925723"/>
            <a:ext cx="634079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WebSocket-based notifications for instant classroom updates, live doubt queues, and synchronous collaboration features.</a:t>
            </a:r>
            <a:endParaRPr lang="en-US" sz="14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83BA2E3B-F845-E14F-4412-3719DE5792FD}"/>
              </a:ext>
            </a:extLst>
          </p:cNvPr>
          <p:cNvSpPr/>
          <p:nvPr/>
        </p:nvSpPr>
        <p:spPr>
          <a:xfrm>
            <a:off x="5094089" y="4169450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BCDBD4"/>
          </a:solidFill>
          <a:ln/>
        </p:spPr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F3A6EDA8-23C3-D65F-75C7-6E1640D777AF}"/>
              </a:ext>
            </a:extLst>
          </p:cNvPr>
          <p:cNvSpPr/>
          <p:nvPr/>
        </p:nvSpPr>
        <p:spPr>
          <a:xfrm>
            <a:off x="4670465" y="395763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448EDB46-310D-D88B-C28C-A2B9B11909C3}"/>
              </a:ext>
            </a:extLst>
          </p:cNvPr>
          <p:cNvSpPr/>
          <p:nvPr/>
        </p:nvSpPr>
        <p:spPr>
          <a:xfrm>
            <a:off x="4744879" y="407104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7BDA2FC1-B876-54A0-631A-D59313CA22B4}"/>
              </a:ext>
            </a:extLst>
          </p:cNvPr>
          <p:cNvSpPr/>
          <p:nvPr/>
        </p:nvSpPr>
        <p:spPr>
          <a:xfrm>
            <a:off x="5886093" y="4025860"/>
            <a:ext cx="28541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Mobile Ecosystem</a:t>
            </a:r>
            <a:endParaRPr lang="en-US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2592C73-6857-42C7-6B9E-200287CEDF5B}"/>
              </a:ext>
            </a:extLst>
          </p:cNvPr>
          <p:cNvSpPr/>
          <p:nvPr/>
        </p:nvSpPr>
        <p:spPr>
          <a:xfrm>
            <a:off x="5886093" y="4455081"/>
            <a:ext cx="634079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Dedicated Flutter / React Native apps delivering offline access, push notifications, and simplified teacher workflows.</a:t>
            </a:r>
            <a:endParaRPr lang="en-US" sz="14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9B27ACF7-68D0-C682-A56D-BD3E6C25A3CB}"/>
              </a:ext>
            </a:extLst>
          </p:cNvPr>
          <p:cNvSpPr/>
          <p:nvPr/>
        </p:nvSpPr>
        <p:spPr>
          <a:xfrm>
            <a:off x="5094089" y="5698808"/>
            <a:ext cx="595313" cy="22860"/>
          </a:xfrm>
          <a:prstGeom prst="roundRect">
            <a:avLst>
              <a:gd name="adj" fmla="val 364651"/>
            </a:avLst>
          </a:prstGeom>
          <a:solidFill>
            <a:srgbClr val="BCDBD4"/>
          </a:solidFill>
          <a:ln/>
        </p:spPr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E84D0BBF-0400-1954-A6AE-C401C26DCD89}"/>
              </a:ext>
            </a:extLst>
          </p:cNvPr>
          <p:cNvSpPr/>
          <p:nvPr/>
        </p:nvSpPr>
        <p:spPr>
          <a:xfrm>
            <a:off x="4670465" y="5486995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02535783-BAE5-E860-7254-3A6D6612101D}"/>
              </a:ext>
            </a:extLst>
          </p:cNvPr>
          <p:cNvSpPr/>
          <p:nvPr/>
        </p:nvSpPr>
        <p:spPr>
          <a:xfrm>
            <a:off x="4744879" y="5590877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23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FBDD1555-7820-27E3-5B3A-948B5CE22307}"/>
              </a:ext>
            </a:extLst>
          </p:cNvPr>
          <p:cNvSpPr/>
          <p:nvPr/>
        </p:nvSpPr>
        <p:spPr>
          <a:xfrm>
            <a:off x="5886093" y="5555218"/>
            <a:ext cx="320325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Advanced Reporting</a:t>
            </a:r>
            <a:endParaRPr lang="en-US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5A81D584-8BD1-AB0D-47FD-F1EF1C3E4B58}"/>
              </a:ext>
            </a:extLst>
          </p:cNvPr>
          <p:cNvSpPr/>
          <p:nvPr/>
        </p:nvSpPr>
        <p:spPr>
          <a:xfrm>
            <a:off x="5886093" y="5984438"/>
            <a:ext cx="634079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Auto-generated PDF report cards, parent-friendly analytics, and exportable insights for institutional audits and accreditation.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45744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B147A36-6AAD-6D05-761E-0DDFCE930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4257675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9D3BC630-5996-619C-7149-1175B3A37C32}"/>
              </a:ext>
            </a:extLst>
          </p:cNvPr>
          <p:cNvSpPr/>
          <p:nvPr/>
        </p:nvSpPr>
        <p:spPr>
          <a:xfrm>
            <a:off x="4384715" y="592217"/>
            <a:ext cx="672405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Impact &amp; Value Proposition</a:t>
            </a:r>
            <a:endParaRPr lang="en-US" sz="28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CCFDD6E-ECEE-9D64-7ABE-C6009F416C37}"/>
              </a:ext>
            </a:extLst>
          </p:cNvPr>
          <p:cNvSpPr/>
          <p:nvPr/>
        </p:nvSpPr>
        <p:spPr>
          <a:xfrm>
            <a:off x="4384715" y="1485186"/>
            <a:ext cx="23533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4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40%</a:t>
            </a:r>
            <a:endParaRPr lang="en-US" sz="48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44B01F8-4A80-4988-38A3-FEE0876BB15B}"/>
              </a:ext>
            </a:extLst>
          </p:cNvPr>
          <p:cNvSpPr/>
          <p:nvPr/>
        </p:nvSpPr>
        <p:spPr>
          <a:xfrm>
            <a:off x="4384715" y="2388156"/>
            <a:ext cx="235338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Admin Efficiency</a:t>
            </a:r>
            <a:endParaRPr lang="en-US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25E666A-F159-39E7-D018-EE083C6CF259}"/>
              </a:ext>
            </a:extLst>
          </p:cNvPr>
          <p:cNvSpPr/>
          <p:nvPr/>
        </p:nvSpPr>
        <p:spPr>
          <a:xfrm>
            <a:off x="4384715" y="3127534"/>
            <a:ext cx="23533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Projected reduction in administrative overhead through automation and centralized workflows.</a:t>
            </a:r>
            <a:endParaRPr lang="en-US" sz="14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21E2533-F39D-CDBF-D7A9-FAED672954B0}"/>
              </a:ext>
            </a:extLst>
          </p:cNvPr>
          <p:cNvSpPr/>
          <p:nvPr/>
        </p:nvSpPr>
        <p:spPr>
          <a:xfrm>
            <a:off x="6986111" y="1485186"/>
            <a:ext cx="23535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4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—</a:t>
            </a:r>
            <a:endParaRPr lang="en-US" sz="48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ECB654C-C41F-AD3B-4E02-4C9FD6571EFB}"/>
              </a:ext>
            </a:extLst>
          </p:cNvPr>
          <p:cNvSpPr/>
          <p:nvPr/>
        </p:nvSpPr>
        <p:spPr>
          <a:xfrm>
            <a:off x="6986111" y="2388156"/>
            <a:ext cx="23535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Transparency</a:t>
            </a:r>
            <a:endParaRPr lang="en-US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A665F53-FFE3-44F3-8E27-DF566BB7B72F}"/>
              </a:ext>
            </a:extLst>
          </p:cNvPr>
          <p:cNvSpPr/>
          <p:nvPr/>
        </p:nvSpPr>
        <p:spPr>
          <a:xfrm>
            <a:off x="6986111" y="2817376"/>
            <a:ext cx="23535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student-facing metrics and audit trails that build trust with families and regulators.</a:t>
            </a:r>
            <a:endParaRPr lang="en-US" sz="14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7AC3CC0-91D9-354E-3C06-2933866B58DB}"/>
              </a:ext>
            </a:extLst>
          </p:cNvPr>
          <p:cNvSpPr/>
          <p:nvPr/>
        </p:nvSpPr>
        <p:spPr>
          <a:xfrm>
            <a:off x="9587627" y="1485186"/>
            <a:ext cx="23533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4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OGI</a:t>
            </a:r>
            <a:endParaRPr lang="en-US" sz="48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4577A3B-BC00-EC82-C920-05BB357D981E}"/>
              </a:ext>
            </a:extLst>
          </p:cNvPr>
          <p:cNvSpPr/>
          <p:nvPr/>
        </p:nvSpPr>
        <p:spPr>
          <a:xfrm>
            <a:off x="9587627" y="2388156"/>
            <a:ext cx="235338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Measurable Growth</a:t>
            </a:r>
            <a:endParaRPr lang="en-US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1DEA780-45BA-434A-1D15-68269E820640}"/>
              </a:ext>
            </a:extLst>
          </p:cNvPr>
          <p:cNvSpPr/>
          <p:nvPr/>
        </p:nvSpPr>
        <p:spPr>
          <a:xfrm>
            <a:off x="9587627" y="3127534"/>
            <a:ext cx="2353389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Growth Index (OGI) gives a single, weighted metric to track student progress and intervention effectiveness.</a:t>
            </a:r>
            <a:endParaRPr lang="en-US" sz="14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0CB6E4E-FBF0-7F93-6356-8DA29559FD36}"/>
              </a:ext>
            </a:extLst>
          </p:cNvPr>
          <p:cNvSpPr/>
          <p:nvPr/>
        </p:nvSpPr>
        <p:spPr>
          <a:xfrm>
            <a:off x="4384715" y="5256014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NavKalpana's MindRise platform transforms administrative work into strategic insight — reducing overhead, improving responsiveness, and delivering measurable academic outcomes.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37545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72689006-01DA-0570-9373-0B2405EA8593}"/>
              </a:ext>
            </a:extLst>
          </p:cNvPr>
          <p:cNvSpPr/>
          <p:nvPr/>
        </p:nvSpPr>
        <p:spPr>
          <a:xfrm>
            <a:off x="4112001" y="273366"/>
            <a:ext cx="6052661" cy="492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Conclusion &amp; Next Steps</a:t>
            </a:r>
            <a:endParaRPr lang="en-US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2955663-84F8-B24B-1C05-C1D5A29E2A76}"/>
              </a:ext>
            </a:extLst>
          </p:cNvPr>
          <p:cNvSpPr/>
          <p:nvPr/>
        </p:nvSpPr>
        <p:spPr>
          <a:xfrm>
            <a:off x="1285875" y="1088350"/>
            <a:ext cx="9544050" cy="125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MindRise is more than a dashboard — it's a scalable platform for data-driven education. By combining secure management tools, teacher workflows, and student-facing insights (like the OGI), MindRise reduces administrative load and delivers transparency that helps students succeed.</a:t>
            </a:r>
            <a:endParaRPr lang="en-US" sz="16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6BA5A02B-C591-F7DE-A4CF-7779757D4860}"/>
              </a:ext>
            </a:extLst>
          </p:cNvPr>
          <p:cNvSpPr/>
          <p:nvPr/>
        </p:nvSpPr>
        <p:spPr>
          <a:xfrm>
            <a:off x="1769745" y="2641759"/>
            <a:ext cx="2391608" cy="3647599"/>
          </a:xfrm>
          <a:prstGeom prst="roundRect">
            <a:avLst>
              <a:gd name="adj" fmla="val 4588"/>
            </a:avLst>
          </a:prstGeom>
          <a:solidFill>
            <a:srgbClr val="FFFFFF"/>
          </a:solidFill>
          <a:ln/>
        </p:spPr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261F901F-6354-5F4E-0C65-82ECB4F22141}"/>
              </a:ext>
            </a:extLst>
          </p:cNvPr>
          <p:cNvSpPr/>
          <p:nvPr/>
        </p:nvSpPr>
        <p:spPr>
          <a:xfrm>
            <a:off x="1283315" y="2812137"/>
            <a:ext cx="2391608" cy="91440"/>
          </a:xfrm>
          <a:prstGeom prst="roundRect">
            <a:avLst>
              <a:gd name="adj" fmla="val 90576"/>
            </a:avLst>
          </a:prstGeom>
          <a:solidFill>
            <a:srgbClr val="26A688"/>
          </a:solidFill>
          <a:ln/>
        </p:spPr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F32DFFF1-386E-C61D-5399-64D93EC38D66}"/>
              </a:ext>
            </a:extLst>
          </p:cNvPr>
          <p:cNvSpPr/>
          <p:nvPr/>
        </p:nvSpPr>
        <p:spPr>
          <a:xfrm>
            <a:off x="2152293" y="2554188"/>
            <a:ext cx="591503" cy="591503"/>
          </a:xfrm>
          <a:prstGeom prst="roundRect">
            <a:avLst>
              <a:gd name="adj" fmla="val 154589"/>
            </a:avLst>
          </a:prstGeom>
          <a:solidFill>
            <a:srgbClr val="26A688"/>
          </a:solidFill>
          <a:ln/>
        </p:spPr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EB81CF19-1465-225F-00B8-89793BDE6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7142" y="2523411"/>
            <a:ext cx="236577" cy="236577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D195C9F7-89C8-4AEB-DBD8-915E725B2CFB}"/>
              </a:ext>
            </a:extLst>
          </p:cNvPr>
          <p:cNvSpPr/>
          <p:nvPr/>
        </p:nvSpPr>
        <p:spPr>
          <a:xfrm>
            <a:off x="1440983" y="3353752"/>
            <a:ext cx="1951553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Pilot Proposal</a:t>
            </a:r>
            <a:endParaRPr lang="en-US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97AE169-D6E5-7D9C-2B66-50CBCC1EE612}"/>
              </a:ext>
            </a:extLst>
          </p:cNvPr>
          <p:cNvSpPr/>
          <p:nvPr/>
        </p:nvSpPr>
        <p:spPr>
          <a:xfrm>
            <a:off x="1440984" y="3981449"/>
            <a:ext cx="1951553" cy="1572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a 12-week pilot with one campus to measure time savings, adoption, and OGI movement.</a:t>
            </a:r>
            <a:endParaRPr lang="en-US" sz="14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51D5B22-697D-1640-1FD8-E310FD052A72}"/>
              </a:ext>
            </a:extLst>
          </p:cNvPr>
          <p:cNvSpPr/>
          <p:nvPr/>
        </p:nvSpPr>
        <p:spPr>
          <a:xfrm>
            <a:off x="4319157" y="2608809"/>
            <a:ext cx="2391608" cy="3647599"/>
          </a:xfrm>
          <a:prstGeom prst="roundRect">
            <a:avLst>
              <a:gd name="adj" fmla="val 4588"/>
            </a:avLst>
          </a:prstGeom>
          <a:solidFill>
            <a:srgbClr val="FFFFFF"/>
          </a:solidFill>
          <a:ln/>
        </p:spPr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C5C643F7-55DA-9038-F791-896AB751953E}"/>
              </a:ext>
            </a:extLst>
          </p:cNvPr>
          <p:cNvSpPr/>
          <p:nvPr/>
        </p:nvSpPr>
        <p:spPr>
          <a:xfrm>
            <a:off x="5788742" y="2536999"/>
            <a:ext cx="591503" cy="591503"/>
          </a:xfrm>
          <a:prstGeom prst="roundRect">
            <a:avLst>
              <a:gd name="adj" fmla="val 154589"/>
            </a:avLst>
          </a:prstGeom>
          <a:solidFill>
            <a:srgbClr val="26A688"/>
          </a:solidFill>
          <a:ln/>
        </p:spPr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566CCECC-437D-38E5-ADEA-6A099CB3C08F}"/>
              </a:ext>
            </a:extLst>
          </p:cNvPr>
          <p:cNvSpPr/>
          <p:nvPr/>
        </p:nvSpPr>
        <p:spPr>
          <a:xfrm>
            <a:off x="4953250" y="3353752"/>
            <a:ext cx="1951553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Partnerships</a:t>
            </a:r>
            <a:endParaRPr lang="en-US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1B9F07BA-B103-0BF3-0841-6BC62FBF98D6}"/>
              </a:ext>
            </a:extLst>
          </p:cNvPr>
          <p:cNvSpPr/>
          <p:nvPr/>
        </p:nvSpPr>
        <p:spPr>
          <a:xfrm>
            <a:off x="5028975" y="3947117"/>
            <a:ext cx="1951553" cy="1572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Engage district administrators and potential investors for scaling and integration support.</a:t>
            </a:r>
            <a:endParaRPr lang="en-US" sz="140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BC712982-91BD-1132-9FDA-5F1763037F4A}"/>
              </a:ext>
            </a:extLst>
          </p:cNvPr>
          <p:cNvSpPr/>
          <p:nvPr/>
        </p:nvSpPr>
        <p:spPr>
          <a:xfrm>
            <a:off x="6944678" y="2641759"/>
            <a:ext cx="2391608" cy="3647599"/>
          </a:xfrm>
          <a:prstGeom prst="roundRect">
            <a:avLst>
              <a:gd name="adj" fmla="val 4588"/>
            </a:avLst>
          </a:prstGeom>
          <a:solidFill>
            <a:srgbClr val="FFFFFF"/>
          </a:solidFill>
          <a:ln/>
        </p:spPr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C3993B64-46B9-A00B-61C8-FF10DF733AEC}"/>
              </a:ext>
            </a:extLst>
          </p:cNvPr>
          <p:cNvSpPr/>
          <p:nvPr/>
        </p:nvSpPr>
        <p:spPr>
          <a:xfrm>
            <a:off x="8258651" y="2828329"/>
            <a:ext cx="2391608" cy="91440"/>
          </a:xfrm>
          <a:prstGeom prst="roundRect">
            <a:avLst>
              <a:gd name="adj" fmla="val 90576"/>
            </a:avLst>
          </a:prstGeom>
          <a:solidFill>
            <a:srgbClr val="26A688"/>
          </a:solidFill>
          <a:ln/>
        </p:spPr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26A6BEF7-6703-D459-9F32-D8E419C4A34B}"/>
              </a:ext>
            </a:extLst>
          </p:cNvPr>
          <p:cNvSpPr/>
          <p:nvPr/>
        </p:nvSpPr>
        <p:spPr>
          <a:xfrm>
            <a:off x="9158703" y="2545258"/>
            <a:ext cx="591503" cy="591503"/>
          </a:xfrm>
          <a:prstGeom prst="roundRect">
            <a:avLst>
              <a:gd name="adj" fmla="val 154589"/>
            </a:avLst>
          </a:prstGeom>
          <a:solidFill>
            <a:srgbClr val="26A688"/>
          </a:solidFill>
          <a:ln/>
        </p:spPr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E5298EE5-C49F-B67C-CC50-E2F414F94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2074" y="2523411"/>
            <a:ext cx="236577" cy="236577"/>
          </a:xfrm>
          <a:prstGeom prst="rect">
            <a:avLst/>
          </a:prstGeom>
        </p:spPr>
      </p:pic>
      <p:sp>
        <p:nvSpPr>
          <p:cNvPr id="23" name="Text 15">
            <a:extLst>
              <a:ext uri="{FF2B5EF4-FFF2-40B4-BE49-F238E27FC236}">
                <a16:creationId xmlns:a16="http://schemas.microsoft.com/office/drawing/2014/main" id="{BB54C49A-6749-519A-A447-EBA06394C73A}"/>
              </a:ext>
            </a:extLst>
          </p:cNvPr>
          <p:cNvSpPr/>
          <p:nvPr/>
        </p:nvSpPr>
        <p:spPr>
          <a:xfrm>
            <a:off x="8258651" y="3365420"/>
            <a:ext cx="1951553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Measurement</a:t>
            </a:r>
            <a:endParaRPr lang="en-US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431A08BA-8F52-42DB-CEEF-1FD23F554FE4}"/>
              </a:ext>
            </a:extLst>
          </p:cNvPr>
          <p:cNvSpPr/>
          <p:nvPr/>
        </p:nvSpPr>
        <p:spPr>
          <a:xfrm>
            <a:off x="8182926" y="3947339"/>
            <a:ext cx="1951553" cy="220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KPIs: admin hours saved, assignment turnaround time, OGI improvements, and parent engagement metrics.</a:t>
            </a:r>
            <a:endParaRPr lang="en-US" sz="14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80FDBEC0-E02E-055E-5D1C-F5717CB931C4}"/>
              </a:ext>
            </a:extLst>
          </p:cNvPr>
          <p:cNvSpPr/>
          <p:nvPr/>
        </p:nvSpPr>
        <p:spPr>
          <a:xfrm>
            <a:off x="1295250" y="5948393"/>
            <a:ext cx="377368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b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Thank you--</a:t>
            </a:r>
            <a:endParaRPr lang="en-US" sz="16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843594A6-74DA-6E55-F5FB-30AEE67C020F}"/>
              </a:ext>
            </a:extLst>
          </p:cNvPr>
          <p:cNvSpPr/>
          <p:nvPr/>
        </p:nvSpPr>
        <p:spPr>
          <a:xfrm>
            <a:off x="4862096" y="2804219"/>
            <a:ext cx="2391608" cy="91440"/>
          </a:xfrm>
          <a:prstGeom prst="roundRect">
            <a:avLst>
              <a:gd name="adj" fmla="val 90576"/>
            </a:avLst>
          </a:prstGeom>
          <a:solidFill>
            <a:srgbClr val="26A688"/>
          </a:solidFill>
          <a:ln/>
        </p:spPr>
      </p:sp>
    </p:spTree>
    <p:extLst>
      <p:ext uri="{BB962C8B-B14F-4D97-AF65-F5344CB8AC3E}">
        <p14:creationId xmlns:p14="http://schemas.microsoft.com/office/powerpoint/2010/main" val="1700103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821</Words>
  <Application>Microsoft Office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Open Sans</vt:lpstr>
      <vt:lpstr>Unbounded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Arunav Kishor</dc:creator>
  <cp:lastModifiedBy>Arunav Kishor</cp:lastModifiedBy>
  <cp:revision>3</cp:revision>
  <dcterms:created xsi:type="dcterms:W3CDTF">2026-02-26T06:16:46Z</dcterms:created>
  <dcterms:modified xsi:type="dcterms:W3CDTF">2026-02-26T06:31:13Z</dcterms:modified>
</cp:coreProperties>
</file>